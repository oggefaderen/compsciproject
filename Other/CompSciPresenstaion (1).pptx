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85" r:id="rId2"/>
    <p:sldId id="262" r:id="rId3"/>
    <p:sldId id="283" r:id="rId4"/>
    <p:sldId id="287" r:id="rId5"/>
    <p:sldId id="275" r:id="rId6"/>
    <p:sldId id="288" r:id="rId7"/>
    <p:sldId id="279" r:id="rId8"/>
    <p:sldId id="289" r:id="rId9"/>
    <p:sldId id="284" r:id="rId1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6"/>
    <p:restoredTop sz="94699"/>
  </p:normalViewPr>
  <p:slideViewPr>
    <p:cSldViewPr snapToGrid="0">
      <p:cViewPr varScale="1">
        <p:scale>
          <a:sx n="198" d="100"/>
          <a:sy n="198" d="100"/>
        </p:scale>
        <p:origin x="21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C78891-DE3F-8629-5BF8-3056476C3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F389FF2-6E8E-5496-3400-33BE54250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GB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DCA52E3-581A-AF7A-99F9-80D079E09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5E496D5-41F2-F7B9-7935-1894A7D5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26492E6-98BD-1E37-131C-102EBFA6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28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C7E5A-96C0-30B5-F06B-CF83AAAC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F2781AA-3FCA-7F17-E33F-DE09EDBBF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EBE2A97-4C09-5D52-D955-04921E02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A79CE45-3404-8E7E-0B64-AA826282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7D30352-50D7-BD5D-0749-D9A2B00E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582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A0FB5-167A-CE77-0CE7-ED3BFA1A1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56EE6A1-7EC3-252E-11DD-D6980EDF1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89B0B93-7600-BC91-E093-14E1F10F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7AB5D99-4AB9-7872-02EF-2252B413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9F1F605-D2CE-D106-F7BD-7B444DA3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11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9EECC-B504-8789-BCEC-D83A23D7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45E5514-A9AD-2CCB-58F4-849C6B7B6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8BB0355-B167-AD36-43F7-01EF9CB26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F82EA39-FCE9-AFF7-0263-08221D0DE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A418E7F-FF5A-AFEB-323C-05989FCB7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776521E-AD37-285F-540C-217DF822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24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160394-74D6-A024-9B9E-47EB4A222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310A6DA-46C3-5BDE-505F-896394A8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B868C6F-EA83-7E36-7B52-4B24ECDDB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24795AD-C832-7D5B-8DD5-0CCD90205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5377C6C1-182E-0A78-FA42-CCF994669B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4BE08C05-34BB-EA3C-0F70-758E993E1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3DA182CF-328D-9F41-1908-558F071B4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C0F49F25-550E-1839-D14A-6E58A7B9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357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465DF-0F4F-185D-65D8-E107832EE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2BDF0D7-4A75-D3BC-55DA-466B6ECC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D93C0AD-9A2C-44A6-766C-F249FB27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3C4D923-E6C9-B5FA-350D-F7EA9E0C1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06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7E6989D5-16D0-1A28-9BFA-7DF5B430E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4EC87C52-3041-2662-AD1B-44FEC2202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CBBC18C-136F-E532-A17E-114F9ECE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23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79B33A-0F66-8174-3F8E-B1FA69EC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2A855AC-473D-15FB-F69E-475BAA5A7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A3DA5BB-1291-F351-50C5-28A21C967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879493B-FE4E-FE32-13EF-65127B96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F53A00F-FFA0-AB54-D957-6C7D7910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88D65D3-A172-E247-685A-4D7E7D6E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40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28E444-203D-73C3-44D9-DEC03D0E9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00808F79-10D9-BED9-E528-6F321A5DE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DA4A180-B0C3-2C9F-8F62-A38392ACA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66EBCAD-328A-4C19-EFDB-0E15E217A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4C14C23-3D1C-9472-20F1-69ACF972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106021D-4D5E-A74E-B7D0-77F3F72C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87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136530-2D79-A6C3-AF81-F3E8E495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850C5F7-041F-F894-E80D-406FE3EEC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4715845-A3A9-8DF7-B10B-902ABAE8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4183BC-180D-5F05-FB6A-91C20778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727705D-5282-CBD7-F91F-DEB3B4FA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193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56F27CCB-8FB9-D066-9A94-D4A86E474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A05C354F-E509-AA68-48FB-5DEADF729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1529585-E21B-076F-483E-603AEBC1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6AAD969-15E2-7EB2-7F34-54457E02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4913426-712B-09C5-F99B-3299C9DC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91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A2E"/>
            </a:gs>
            <a:gs pos="60000">
              <a:srgbClr val="16213E"/>
            </a:gs>
            <a:gs pos="100000">
              <a:srgbClr val="0F34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00D8EBBB-83FE-F7AE-5153-EF0619A5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GB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EAF0004-7442-A14D-FC29-F33B3B993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F12E5D8-443F-D1E6-CD44-221826B2D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33C0D-89B1-0B4D-881F-8067E2BB01A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F4AE9CC-7DE3-5A57-543C-4EFB8C26D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0D2A5DD-AAE9-BA6A-657D-3D9653F1A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2FC09-560C-604A-A330-8B1AC7CDF758}" type="slidenum">
              <a:rPr lang="en-GB" smtClean="0"/>
              <a:t>‹nr.›</a:t>
            </a:fld>
            <a:endParaRPr lang="en-GB"/>
          </a:p>
        </p:txBody>
      </p:sp>
      <p:sp>
        <p:nvSpPr>
          <p:cNvPr id="900" name="BottomAccent"/>
          <p:cNvSpPr/>
          <p:nvPr userDrawn="1"/>
        </p:nvSpPr>
        <p:spPr>
          <a:xfrm>
            <a:off x="838200" y="6400800"/>
            <a:ext cx="10515600" cy="18288"/>
          </a:xfrm>
          <a:prstGeom prst="rect">
            <a:avLst/>
          </a:prstGeom>
          <a:solidFill>
            <a:srgbClr val="C8A96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CornerAccent"/>
          <p:cNvSpPr/>
          <p:nvPr userDrawn="1"/>
        </p:nvSpPr>
        <p:spPr>
          <a:xfrm>
            <a:off x="0" y="0"/>
            <a:ext cx="914400" cy="914400"/>
          </a:xfrm>
          <a:prstGeom prst="rtTriangle">
            <a:avLst/>
          </a:prstGeom>
          <a:solidFill>
            <a:srgbClr val="C8A96E">
              <a:alpha val="12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1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8A96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0E6D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0E6D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0E6D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0E6D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0E6D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0E6D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0E6D3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0E6D3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0E6D3"/>
          </a:solidFill>
          <a:latin typeface="+mn-lt"/>
          <a:ea typeface="+mn-ea"/>
          <a:cs typeface="+mn-cs"/>
        </a:defRPr>
      </a:lvl9pPr>
    </p:bodyStyle>
    <p:otherStyle>
      <a:defPPr>
        <a:defRPr lang="da-DK">
          <a:solidFill>
            <a:srgbClr val="F0E6D3"/>
          </a:solidFill>
        </a:defRPr>
      </a:defPPr>
      <a:lvl1pPr marL="0" algn="l" defTabSz="914400" rtl="0" eaLnBrk="1" latinLnBrk="0" hangingPunct="1">
        <a:defRPr sz="1800" kern="1200">
          <a:solidFill>
            <a:srgbClr val="F0E6D3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0E6D3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0E6D3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0E6D3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0E6D3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0E6D3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0E6D3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0E6D3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0E6D3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A2E"/>
            </a:gs>
            <a:gs pos="60000">
              <a:srgbClr val="16213E"/>
            </a:gs>
            <a:gs pos="100000">
              <a:srgbClr val="0F34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A0F0A5-65C2-A779-390A-FF43F22FF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000" y="1270000"/>
            <a:ext cx="9652000" cy="2286000"/>
          </a:xfrm>
        </p:spPr>
        <p:txBody>
          <a:bodyPr/>
          <a:lstStyle/>
          <a:p>
            <a:pPr algn="ctr">
              <a:buNone/>
            </a:pPr>
            <a:r>
              <a:rPr lang="en-US" sz="3200" b="1" dirty="0">
                <a:solidFill>
                  <a:srgbClr val="C8A96E"/>
                </a:solidFill>
              </a:rPr>
              <a:t>Social Networks in Game Of Thrones</a:t>
            </a:r>
          </a:p>
          <a:p>
            <a:pPr algn="ctr">
              <a:buNone/>
            </a:pPr>
            <a:r>
              <a:rPr lang="en-US" sz="1800" dirty="0">
                <a:solidFill>
                  <a:srgbClr val="F0E6D3"/>
                </a:solidFill>
              </a:rPr>
              <a:t>Investigating how networks predict allegiances and storylines in fiction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A6E89CF-36AE-9798-3C1D-FDD688724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0" y="3937000"/>
            <a:ext cx="8636000" cy="1905000"/>
          </a:xfrm>
        </p:spPr>
        <p:txBody>
          <a:bodyPr/>
          <a:lstStyle/>
          <a:p>
            <a:pPr algn="ctr">
              <a:buNone/>
            </a:pPr>
            <a:endParaRPr lang="en-US" sz="800" dirty="0"/>
          </a:p>
          <a:p>
            <a:pPr algn="ctr">
              <a:buNone/>
            </a:pPr>
            <a:r>
              <a:rPr lang="en-US" sz="1200" dirty="0">
                <a:solidFill>
                  <a:srgbClr val="C8A96E">
                    <a:alpha val="70000"/>
                  </a:srgbClr>
                </a:solidFill>
              </a:rPr>
              <a:t>Uffe Grøn Roepstorff  s245109•  Lovro Antic s235263•  Oskar Karlsson s244771</a:t>
            </a:r>
          </a:p>
        </p:txBody>
      </p:sp>
      <p:sp>
        <p:nvSpPr>
          <p:cNvPr id="50" name="Divider"/>
          <p:cNvSpPr/>
          <p:nvPr/>
        </p:nvSpPr>
        <p:spPr>
          <a:xfrm>
            <a:off x="4572000" y="3759200"/>
            <a:ext cx="3048000" cy="0"/>
          </a:xfrm>
          <a:prstGeom prst="line">
            <a:avLst/>
          </a:prstGeom>
          <a:ln w="12700">
            <a:solidFill>
              <a:srgbClr val="C8A96E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39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E72434-7058-286C-862C-5F280B7C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Central Idea</a:t>
            </a:r>
          </a:p>
        </p:txBody>
      </p:sp>
      <p:sp>
        <p:nvSpPr>
          <p:cNvPr id="10" name="Card Left"/>
          <p:cNvSpPr/>
          <p:nvPr/>
        </p:nvSpPr>
        <p:spPr>
          <a:xfrm>
            <a:off x="838201" y="1589110"/>
            <a:ext cx="5107577" cy="3302000"/>
          </a:xfrm>
          <a:prstGeom prst="roundRect">
            <a:avLst>
              <a:gd name="adj" fmla="val 8000"/>
            </a:avLst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600" b="1" dirty="0">
                <a:solidFill>
                  <a:srgbClr val="C8A96E"/>
                </a:solidFill>
              </a:rPr>
              <a:t>What are we investigating?</a:t>
            </a:r>
          </a:p>
          <a:p>
            <a:pPr>
              <a:buNone/>
            </a:pPr>
            <a:endParaRPr lang="en-US" sz="600" dirty="0"/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Mapping character relationships &amp; allegiances in Game of Thrones Books</a:t>
            </a:r>
            <a:endParaRPr lang="en-US" sz="400" dirty="0"/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3,563 named characters from a large fictional universe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Can we infer allegiances, conflicts and defining characteristics for Game Of Thrones Houses through Computational Social Science methods.</a:t>
            </a:r>
          </a:p>
        </p:txBody>
      </p:sp>
      <p:sp>
        <p:nvSpPr>
          <p:cNvPr id="11" name="Card Right"/>
          <p:cNvSpPr/>
          <p:nvPr/>
        </p:nvSpPr>
        <p:spPr>
          <a:xfrm>
            <a:off x="6246223" y="1589110"/>
            <a:ext cx="5107577" cy="3302000"/>
          </a:xfrm>
          <a:prstGeom prst="roundRect">
            <a:avLst>
              <a:gd name="adj" fmla="val 8000"/>
            </a:avLst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600" b="1" dirty="0">
                <a:solidFill>
                  <a:srgbClr val="C8A96E"/>
                </a:solidFill>
              </a:rPr>
              <a:t>Why is it interesting?</a:t>
            </a:r>
          </a:p>
          <a:p>
            <a:pPr>
              <a:buNone/>
            </a:pPr>
            <a:endParaRPr lang="en-US" sz="600" dirty="0"/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Fictional networks as a lens for real-world network phenomena</a:t>
            </a:r>
          </a:p>
          <a:p>
            <a:pPr>
              <a:buNone/>
            </a:pPr>
            <a:endParaRPr lang="en-US" sz="400" dirty="0"/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Exploring Computational Social Science methods on a subject we have domain knowledge of.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Exploring potential and complications with </a:t>
            </a:r>
            <a:r>
              <a:rPr lang="en-US" sz="1400" dirty="0" err="1">
                <a:solidFill>
                  <a:srgbClr val="F0E6D3"/>
                </a:solidFill>
              </a:rPr>
              <a:t>webscraping</a:t>
            </a:r>
            <a:endParaRPr lang="en-US" sz="1400" dirty="0">
              <a:solidFill>
                <a:srgbClr val="F0E6D3"/>
              </a:solidFill>
            </a:endParaRPr>
          </a:p>
          <a:p>
            <a:pPr marL="228600" indent="-228600">
              <a:buFont typeface="Arial"/>
              <a:buChar char="▸"/>
            </a:pPr>
            <a:endParaRPr lang="en-US" sz="1400" dirty="0">
              <a:solidFill>
                <a:srgbClr val="F0E6D3"/>
              </a:solidFill>
            </a:endParaRP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It’s fun</a:t>
            </a:r>
          </a:p>
        </p:txBody>
      </p:sp>
    </p:spTree>
    <p:extLst>
      <p:ext uri="{BB962C8B-B14F-4D97-AF65-F5344CB8AC3E}">
        <p14:creationId xmlns:p14="http://schemas.microsoft.com/office/powerpoint/2010/main" val="2394180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7F617-0F4E-5E3D-1717-E504ED187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C8A96E"/>
                </a:solidFill>
              </a:rPr>
              <a:t>Dataset &amp; Collection</a:t>
            </a:r>
          </a:p>
        </p:txBody>
      </p:sp>
      <p:sp>
        <p:nvSpPr>
          <p:cNvPr id="20" name="Source Card"/>
          <p:cNvSpPr/>
          <p:nvPr/>
        </p:nvSpPr>
        <p:spPr>
          <a:xfrm>
            <a:off x="838200" y="1905000"/>
            <a:ext cx="3092823" cy="32004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C8A96E"/>
                </a:solidFill>
              </a:rPr>
              <a:t>Source</a:t>
            </a:r>
          </a:p>
          <a:p>
            <a:pPr>
              <a:buNone/>
            </a:pPr>
            <a:endParaRPr lang="en-US" sz="600" dirty="0"/>
          </a:p>
          <a:p>
            <a:pPr algn="ctr">
              <a:buNone/>
            </a:pPr>
            <a:r>
              <a:rPr lang="en-US" sz="1400" dirty="0">
                <a:solidFill>
                  <a:srgbClr val="F0E6D3"/>
                </a:solidFill>
              </a:rPr>
              <a:t>Game of Thrones Wiki</a:t>
            </a:r>
          </a:p>
          <a:p>
            <a:pPr>
              <a:buNone/>
            </a:pPr>
            <a:endParaRPr lang="en-US" sz="400" dirty="0"/>
          </a:p>
          <a:p>
            <a:pPr algn="ctr">
              <a:buNone/>
            </a:pPr>
            <a:r>
              <a:rPr lang="en-US" sz="1400" dirty="0">
                <a:solidFill>
                  <a:srgbClr val="F0E6D3">
                    <a:alpha val="70000"/>
                  </a:srgbClr>
                </a:solidFill>
              </a:rPr>
              <a:t>Web scraping via Python (BeautifulSoup + requests, </a:t>
            </a:r>
            <a:r>
              <a:rPr lang="en-US" sz="1400" dirty="0" err="1">
                <a:solidFill>
                  <a:srgbClr val="F0E6D3">
                    <a:alpha val="70000"/>
                  </a:srgbClr>
                </a:solidFill>
              </a:rPr>
              <a:t>URLLibParse</a:t>
            </a:r>
            <a:r>
              <a:rPr lang="en-US" sz="1400" dirty="0">
                <a:solidFill>
                  <a:srgbClr val="F0E6D3">
                    <a:alpha val="70000"/>
                  </a:srgbClr>
                </a:solidFill>
              </a:rPr>
              <a:t> for stability)</a:t>
            </a:r>
          </a:p>
        </p:txBody>
      </p:sp>
      <p:sp>
        <p:nvSpPr>
          <p:cNvPr id="25" name="Arrow"/>
          <p:cNvSpPr/>
          <p:nvPr/>
        </p:nvSpPr>
        <p:spPr>
          <a:xfrm>
            <a:off x="4116592" y="3276600"/>
            <a:ext cx="371138" cy="274320"/>
          </a:xfrm>
          <a:prstGeom prst="chevron">
            <a:avLst/>
          </a:prstGeom>
          <a:solidFill>
            <a:srgbClr val="C8A96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>
              <a:solidFill>
                <a:srgbClr val="1A1A2E"/>
              </a:solidFill>
            </a:endParaRPr>
          </a:p>
        </p:txBody>
      </p:sp>
      <p:sp>
        <p:nvSpPr>
          <p:cNvPr id="21" name="Method Card"/>
          <p:cNvSpPr/>
          <p:nvPr/>
        </p:nvSpPr>
        <p:spPr>
          <a:xfrm>
            <a:off x="4549587" y="1905000"/>
            <a:ext cx="3092823" cy="32004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C8A96E"/>
                </a:solidFill>
              </a:rPr>
              <a:t>Method</a:t>
            </a:r>
          </a:p>
          <a:p>
            <a:pPr>
              <a:buNone/>
            </a:pPr>
            <a:endParaRPr lang="en-US" sz="600" dirty="0"/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Parse character pages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Extract attributes, allegiances, biographies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Clean + structure into CSV</a:t>
            </a:r>
          </a:p>
        </p:txBody>
      </p:sp>
      <p:sp>
        <p:nvSpPr>
          <p:cNvPr id="26" name="Arrow"/>
          <p:cNvSpPr/>
          <p:nvPr/>
        </p:nvSpPr>
        <p:spPr>
          <a:xfrm>
            <a:off x="7827981" y="3276600"/>
            <a:ext cx="371138" cy="274320"/>
          </a:xfrm>
          <a:prstGeom prst="chevron">
            <a:avLst/>
          </a:prstGeom>
          <a:solidFill>
            <a:srgbClr val="C8A96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>
              <a:solidFill>
                <a:srgbClr val="1A1A2E"/>
              </a:solidFill>
            </a:endParaRPr>
          </a:p>
        </p:txBody>
      </p:sp>
      <p:sp>
        <p:nvSpPr>
          <p:cNvPr id="22" name="Result Card"/>
          <p:cNvSpPr/>
          <p:nvPr/>
        </p:nvSpPr>
        <p:spPr>
          <a:xfrm>
            <a:off x="8260976" y="1905000"/>
            <a:ext cx="3092823" cy="32004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C8A96E"/>
                </a:solidFill>
              </a:rPr>
              <a:t>Result</a:t>
            </a:r>
          </a:p>
          <a:p>
            <a:pPr>
              <a:buNone/>
            </a:pPr>
            <a:endParaRPr lang="en-US" sz="600" dirty="0"/>
          </a:p>
          <a:p>
            <a:pPr algn="ctr">
              <a:buNone/>
            </a:pPr>
            <a:r>
              <a:rPr lang="en-US" sz="2000" b="1" dirty="0">
                <a:solidFill>
                  <a:srgbClr val="C8A96E"/>
                </a:solidFill>
              </a:rPr>
              <a:t>3,563</a:t>
            </a:r>
          </a:p>
          <a:p>
            <a:pPr algn="ctr">
              <a:buNone/>
            </a:pPr>
            <a:r>
              <a:rPr lang="en-US" sz="1400" dirty="0">
                <a:solidFill>
                  <a:srgbClr val="F0E6D3"/>
                </a:solidFill>
              </a:rPr>
              <a:t>named characters</a:t>
            </a:r>
          </a:p>
          <a:p>
            <a:pPr>
              <a:buNone/>
            </a:pPr>
            <a:endParaRPr lang="en-US" sz="400" dirty="0"/>
          </a:p>
          <a:p>
            <a:pPr algn="ctr">
              <a:buNone/>
            </a:pPr>
            <a:r>
              <a:rPr lang="en-US" sz="1400" b="1" dirty="0">
                <a:solidFill>
                  <a:srgbClr val="F0E6D3"/>
                </a:solidFill>
              </a:rPr>
              <a:t>characters_enriched.csv</a:t>
            </a:r>
          </a:p>
          <a:p>
            <a:pPr algn="ctr">
              <a:buNone/>
            </a:pPr>
            <a:r>
              <a:rPr lang="en-US" sz="1200" dirty="0">
                <a:solidFill>
                  <a:srgbClr val="F0E6D3">
                    <a:alpha val="60000"/>
                  </a:srgbClr>
                </a:solidFill>
              </a:rPr>
              <a:t>Name, ID, allegiances, </a:t>
            </a:r>
            <a:r>
              <a:rPr lang="en-US" sz="1200" dirty="0" err="1">
                <a:solidFill>
                  <a:srgbClr val="F0E6D3">
                    <a:alpha val="60000"/>
                  </a:srgbClr>
                </a:solidFill>
              </a:rPr>
              <a:t>affialtions</a:t>
            </a:r>
            <a:endParaRPr lang="en-US" sz="1200" dirty="0">
              <a:solidFill>
                <a:srgbClr val="F0E6D3">
                  <a:alpha val="60000"/>
                </a:srgbClr>
              </a:solidFill>
            </a:endParaRPr>
          </a:p>
          <a:p>
            <a:pPr algn="ctr">
              <a:buNone/>
            </a:pPr>
            <a:endParaRPr lang="en-US" sz="1200" dirty="0">
              <a:solidFill>
                <a:srgbClr val="F0E6D3">
                  <a:alpha val="60000"/>
                </a:srgbClr>
              </a:solidFill>
            </a:endParaRPr>
          </a:p>
          <a:p>
            <a:pPr algn="ctr">
              <a:buNone/>
            </a:pPr>
            <a:r>
              <a:rPr lang="en-US" sz="1200" b="1" dirty="0" err="1">
                <a:solidFill>
                  <a:srgbClr val="F0E6D3"/>
                </a:solidFill>
              </a:rPr>
              <a:t>characters_bio.csv</a:t>
            </a:r>
            <a:endParaRPr lang="en-US" sz="1200" b="1" dirty="0">
              <a:solidFill>
                <a:srgbClr val="F0E6D3"/>
              </a:solidFill>
            </a:endParaRPr>
          </a:p>
          <a:p>
            <a:pPr algn="ctr">
              <a:buNone/>
            </a:pPr>
            <a:r>
              <a:rPr lang="en-US" sz="1100" dirty="0">
                <a:solidFill>
                  <a:srgbClr val="F0E6D3">
                    <a:alpha val="60000"/>
                  </a:srgbClr>
                </a:solidFill>
              </a:rPr>
              <a:t>Name, ID, History</a:t>
            </a:r>
          </a:p>
          <a:p>
            <a:pPr algn="ctr">
              <a:buNone/>
            </a:pPr>
            <a:endParaRPr lang="en-US" sz="1200" dirty="0">
              <a:solidFill>
                <a:srgbClr val="F0E6D3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78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D54D7-4E9A-9822-4413-B26F7D31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17A9A-27F1-02C1-A2E1-2FC7915A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Text to analyze</a:t>
            </a:r>
            <a:endParaRPr lang="en-US" sz="2800" b="1" dirty="0">
              <a:solidFill>
                <a:srgbClr val="C8A96E"/>
              </a:solidFill>
            </a:endParaRPr>
          </a:p>
        </p:txBody>
      </p:sp>
      <p:sp>
        <p:nvSpPr>
          <p:cNvPr id="20" name="Source Card">
            <a:extLst>
              <a:ext uri="{FF2B5EF4-FFF2-40B4-BE49-F238E27FC236}">
                <a16:creationId xmlns:a16="http://schemas.microsoft.com/office/drawing/2014/main" id="{15A39048-FC1E-84BA-78FE-EFFFD2FCDDBE}"/>
              </a:ext>
            </a:extLst>
          </p:cNvPr>
          <p:cNvSpPr/>
          <p:nvPr/>
        </p:nvSpPr>
        <p:spPr>
          <a:xfrm>
            <a:off x="1023769" y="1950720"/>
            <a:ext cx="3092823" cy="32004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C8A96E"/>
                </a:solidFill>
              </a:rPr>
              <a:t>Source</a:t>
            </a:r>
          </a:p>
          <a:p>
            <a:pPr>
              <a:buNone/>
            </a:pPr>
            <a:endParaRPr lang="en-US" sz="600" dirty="0"/>
          </a:p>
          <a:p>
            <a:pPr algn="ctr">
              <a:buNone/>
            </a:pPr>
            <a:r>
              <a:rPr lang="en-US" sz="1400" dirty="0">
                <a:solidFill>
                  <a:srgbClr val="F0E6D3"/>
                </a:solidFill>
              </a:rPr>
              <a:t>Game of </a:t>
            </a:r>
            <a:r>
              <a:rPr lang="en-US" sz="1400" dirty="0" err="1">
                <a:solidFill>
                  <a:srgbClr val="F0E6D3"/>
                </a:solidFill>
              </a:rPr>
              <a:t>hrones</a:t>
            </a:r>
            <a:r>
              <a:rPr lang="en-US" sz="1400" dirty="0">
                <a:solidFill>
                  <a:srgbClr val="F0E6D3"/>
                </a:solidFill>
              </a:rPr>
              <a:t> Wiki</a:t>
            </a:r>
            <a:endParaRPr lang="en-US" sz="400" dirty="0"/>
          </a:p>
          <a:p>
            <a:pPr algn="ctr">
              <a:buNone/>
            </a:pPr>
            <a:r>
              <a:rPr lang="en-US" sz="1400" dirty="0">
                <a:solidFill>
                  <a:srgbClr val="F0E6D3">
                    <a:alpha val="70000"/>
                  </a:srgbClr>
                </a:solidFill>
              </a:rPr>
              <a:t>Web scraping via Python (BeautifulSoup + requests, </a:t>
            </a:r>
            <a:r>
              <a:rPr lang="en-US" sz="1400" dirty="0" err="1">
                <a:solidFill>
                  <a:srgbClr val="F0E6D3">
                    <a:alpha val="70000"/>
                  </a:srgbClr>
                </a:solidFill>
              </a:rPr>
              <a:t>URLLibParse</a:t>
            </a:r>
            <a:r>
              <a:rPr lang="en-US" sz="1400" dirty="0">
                <a:solidFill>
                  <a:srgbClr val="F0E6D3">
                    <a:alpha val="70000"/>
                  </a:srgbClr>
                </a:solidFill>
              </a:rPr>
              <a:t> for stability)</a:t>
            </a:r>
          </a:p>
        </p:txBody>
      </p:sp>
      <p:sp>
        <p:nvSpPr>
          <p:cNvPr id="25" name="Arrow">
            <a:extLst>
              <a:ext uri="{FF2B5EF4-FFF2-40B4-BE49-F238E27FC236}">
                <a16:creationId xmlns:a16="http://schemas.microsoft.com/office/drawing/2014/main" id="{B4B95895-4DBC-826B-7669-5E29B2C13EF4}"/>
              </a:ext>
            </a:extLst>
          </p:cNvPr>
          <p:cNvSpPr/>
          <p:nvPr/>
        </p:nvSpPr>
        <p:spPr>
          <a:xfrm>
            <a:off x="4116592" y="3276600"/>
            <a:ext cx="371138" cy="274320"/>
          </a:xfrm>
          <a:prstGeom prst="chevron">
            <a:avLst/>
          </a:prstGeom>
          <a:solidFill>
            <a:srgbClr val="C8A96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>
              <a:solidFill>
                <a:srgbClr val="1A1A2E"/>
              </a:solidFill>
            </a:endParaRPr>
          </a:p>
        </p:txBody>
      </p:sp>
      <p:sp>
        <p:nvSpPr>
          <p:cNvPr id="21" name="Method Card">
            <a:extLst>
              <a:ext uri="{FF2B5EF4-FFF2-40B4-BE49-F238E27FC236}">
                <a16:creationId xmlns:a16="http://schemas.microsoft.com/office/drawing/2014/main" id="{2448C349-FDCF-891E-B244-5E8E4CD9FA9A}"/>
              </a:ext>
            </a:extLst>
          </p:cNvPr>
          <p:cNvSpPr/>
          <p:nvPr/>
        </p:nvSpPr>
        <p:spPr>
          <a:xfrm>
            <a:off x="4549588" y="1950720"/>
            <a:ext cx="3092823" cy="32004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C8A96E"/>
                </a:solidFill>
              </a:rPr>
              <a:t>Method</a:t>
            </a:r>
          </a:p>
          <a:p>
            <a:pPr>
              <a:buNone/>
            </a:pPr>
            <a:endParaRPr lang="en-US" sz="600" dirty="0"/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Parse character pages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Extract attributes, allegiances, biographies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Clean + structure into CSV</a:t>
            </a:r>
          </a:p>
        </p:txBody>
      </p:sp>
      <p:sp>
        <p:nvSpPr>
          <p:cNvPr id="26" name="Arrow">
            <a:extLst>
              <a:ext uri="{FF2B5EF4-FFF2-40B4-BE49-F238E27FC236}">
                <a16:creationId xmlns:a16="http://schemas.microsoft.com/office/drawing/2014/main" id="{DCCE4C3F-079D-CACC-FC97-EC197761C4B1}"/>
              </a:ext>
            </a:extLst>
          </p:cNvPr>
          <p:cNvSpPr/>
          <p:nvPr/>
        </p:nvSpPr>
        <p:spPr>
          <a:xfrm>
            <a:off x="7827981" y="3276600"/>
            <a:ext cx="371138" cy="274320"/>
          </a:xfrm>
          <a:prstGeom prst="chevron">
            <a:avLst/>
          </a:prstGeom>
          <a:solidFill>
            <a:srgbClr val="C8A96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>
              <a:solidFill>
                <a:srgbClr val="1A1A2E"/>
              </a:solidFill>
            </a:endParaRPr>
          </a:p>
        </p:txBody>
      </p:sp>
      <p:sp>
        <p:nvSpPr>
          <p:cNvPr id="22" name="Result Card">
            <a:extLst>
              <a:ext uri="{FF2B5EF4-FFF2-40B4-BE49-F238E27FC236}">
                <a16:creationId xmlns:a16="http://schemas.microsoft.com/office/drawing/2014/main" id="{CE905C1D-5B74-5B5F-CCCE-06A39C6D8597}"/>
              </a:ext>
            </a:extLst>
          </p:cNvPr>
          <p:cNvSpPr/>
          <p:nvPr/>
        </p:nvSpPr>
        <p:spPr>
          <a:xfrm>
            <a:off x="8260976" y="1905000"/>
            <a:ext cx="3092823" cy="32004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C8A96E"/>
                </a:solidFill>
              </a:rPr>
              <a:t>Result</a:t>
            </a:r>
          </a:p>
          <a:p>
            <a:pPr>
              <a:buNone/>
            </a:pPr>
            <a:endParaRPr lang="en-US" sz="600" dirty="0"/>
          </a:p>
          <a:p>
            <a:pPr algn="ctr">
              <a:buNone/>
            </a:pPr>
            <a:r>
              <a:rPr lang="en-US" sz="2000" b="1" dirty="0">
                <a:solidFill>
                  <a:srgbClr val="C8A96E"/>
                </a:solidFill>
              </a:rPr>
              <a:t>3,563</a:t>
            </a:r>
          </a:p>
          <a:p>
            <a:pPr algn="ctr">
              <a:buNone/>
            </a:pPr>
            <a:r>
              <a:rPr lang="en-US" sz="1400" dirty="0">
                <a:solidFill>
                  <a:srgbClr val="F0E6D3"/>
                </a:solidFill>
              </a:rPr>
              <a:t>named characters</a:t>
            </a:r>
          </a:p>
          <a:p>
            <a:pPr>
              <a:buNone/>
            </a:pPr>
            <a:endParaRPr lang="en-US" sz="400" dirty="0"/>
          </a:p>
          <a:p>
            <a:pPr algn="ctr">
              <a:buNone/>
            </a:pPr>
            <a:r>
              <a:rPr lang="en-US" sz="1400" b="1" dirty="0">
                <a:solidFill>
                  <a:srgbClr val="F0E6D3"/>
                </a:solidFill>
              </a:rPr>
              <a:t>characters_enriched.csv</a:t>
            </a:r>
          </a:p>
          <a:p>
            <a:pPr algn="ctr">
              <a:buNone/>
            </a:pPr>
            <a:r>
              <a:rPr lang="en-US" sz="1200" dirty="0">
                <a:solidFill>
                  <a:srgbClr val="F0E6D3">
                    <a:alpha val="60000"/>
                  </a:srgbClr>
                </a:solidFill>
              </a:rPr>
              <a:t>Name, ID, allegiances, </a:t>
            </a:r>
            <a:r>
              <a:rPr lang="en-US" sz="1200" dirty="0" err="1">
                <a:solidFill>
                  <a:srgbClr val="F0E6D3">
                    <a:alpha val="60000"/>
                  </a:srgbClr>
                </a:solidFill>
              </a:rPr>
              <a:t>affialtions</a:t>
            </a:r>
            <a:endParaRPr lang="en-US" sz="1200" dirty="0">
              <a:solidFill>
                <a:srgbClr val="F0E6D3">
                  <a:alpha val="60000"/>
                </a:srgbClr>
              </a:solidFill>
            </a:endParaRPr>
          </a:p>
          <a:p>
            <a:pPr algn="ctr">
              <a:buNone/>
            </a:pPr>
            <a:endParaRPr lang="en-US" sz="1200" dirty="0">
              <a:solidFill>
                <a:srgbClr val="F0E6D3">
                  <a:alpha val="60000"/>
                </a:srgbClr>
              </a:solidFill>
            </a:endParaRPr>
          </a:p>
          <a:p>
            <a:pPr algn="ctr">
              <a:buNone/>
            </a:pPr>
            <a:r>
              <a:rPr lang="en-US" sz="1200" b="1" dirty="0" err="1">
                <a:solidFill>
                  <a:srgbClr val="F0E6D3"/>
                </a:solidFill>
              </a:rPr>
              <a:t>characters_bio.csv</a:t>
            </a:r>
            <a:endParaRPr lang="en-US" sz="1200" b="1" dirty="0">
              <a:solidFill>
                <a:srgbClr val="F0E6D3"/>
              </a:solidFill>
            </a:endParaRPr>
          </a:p>
          <a:p>
            <a:pPr algn="ctr">
              <a:buNone/>
            </a:pPr>
            <a:r>
              <a:rPr lang="en-US" sz="1100" dirty="0">
                <a:solidFill>
                  <a:srgbClr val="F0E6D3">
                    <a:alpha val="60000"/>
                  </a:srgbClr>
                </a:solidFill>
              </a:rPr>
              <a:t>Name, ID, History</a:t>
            </a:r>
          </a:p>
          <a:p>
            <a:pPr algn="ctr">
              <a:buNone/>
            </a:pPr>
            <a:endParaRPr lang="en-US" sz="1200" dirty="0">
              <a:solidFill>
                <a:srgbClr val="F0E6D3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3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EDEE1E-37F5-D6EB-6B43-DAB63701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C8A96E"/>
                </a:solidFill>
              </a:rPr>
              <a:t>Goals</a:t>
            </a:r>
          </a:p>
        </p:txBody>
      </p:sp>
      <p:sp>
        <p:nvSpPr>
          <p:cNvPr id="40" name="Card1"/>
          <p:cNvSpPr/>
          <p:nvPr/>
        </p:nvSpPr>
        <p:spPr>
          <a:xfrm>
            <a:off x="838200" y="1841500"/>
            <a:ext cx="4963115" cy="21336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12700">
            <a:solidFill>
              <a:srgbClr val="C8A96E">
                <a:alpha val="25000"/>
              </a:srgbClr>
            </a:solidFill>
          </a:ln>
        </p:spPr>
        <p:txBody>
          <a:bodyPr wrap="square" lIns="457200" tIns="91440" rIns="91440" bIns="45720" anchor="ctr"/>
          <a:lstStyle/>
          <a:p>
            <a:pPr algn="l">
              <a:buNone/>
            </a:pPr>
            <a:r>
              <a:rPr lang="en-US" sz="1500" b="1" dirty="0">
                <a:solidFill>
                  <a:srgbClr val="C8A96E"/>
                </a:solidFill>
              </a:rPr>
              <a:t>Network Construction</a:t>
            </a:r>
          </a:p>
          <a:p>
            <a:pPr algn="l">
              <a:buNone/>
            </a:pPr>
            <a:r>
              <a:rPr lang="en-US" sz="1200" dirty="0">
                <a:solidFill>
                  <a:srgbClr val="F0E6D3">
                    <a:alpha val="80000"/>
                  </a:srgbClr>
                </a:solidFill>
              </a:rPr>
              <a:t>Build character graph with allegiances as community labels; run community detection algorithms</a:t>
            </a:r>
          </a:p>
        </p:txBody>
      </p:sp>
      <p:sp>
        <p:nvSpPr>
          <p:cNvPr id="41" name="Card2"/>
          <p:cNvSpPr/>
          <p:nvPr/>
        </p:nvSpPr>
        <p:spPr>
          <a:xfrm>
            <a:off x="6390684" y="1841500"/>
            <a:ext cx="4963115" cy="21336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12700">
            <a:solidFill>
              <a:srgbClr val="C8A96E">
                <a:alpha val="25000"/>
              </a:srgbClr>
            </a:solidFill>
          </a:ln>
        </p:spPr>
        <p:txBody>
          <a:bodyPr wrap="square" lIns="457200" tIns="91440" rIns="91440" bIns="45720" anchor="ctr"/>
          <a:lstStyle/>
          <a:p>
            <a:pPr algn="l">
              <a:buNone/>
            </a:pPr>
            <a:endParaRPr lang="en-US" sz="1500" b="1" dirty="0">
              <a:solidFill>
                <a:srgbClr val="C8A96E"/>
              </a:solidFill>
            </a:endParaRPr>
          </a:p>
          <a:p>
            <a:r>
              <a:rPr lang="en-US" sz="1500" b="1" dirty="0">
                <a:solidFill>
                  <a:srgbClr val="C8A96E"/>
                </a:solidFill>
              </a:rPr>
              <a:t>TF-IDF Word Clouds</a:t>
            </a:r>
          </a:p>
          <a:p>
            <a:r>
              <a:rPr lang="en-US" sz="1200" dirty="0">
                <a:solidFill>
                  <a:srgbClr val="F0E6D3">
                    <a:alpha val="80000"/>
                  </a:srgbClr>
                </a:solidFill>
              </a:rPr>
              <a:t>Compute TF-IDF per allegiance group; </a:t>
            </a:r>
            <a:r>
              <a:rPr lang="en-US" sz="1200" dirty="0" err="1">
                <a:solidFill>
                  <a:srgbClr val="F0E6D3">
                    <a:alpha val="80000"/>
                  </a:srgbClr>
                </a:solidFill>
              </a:rPr>
              <a:t>visualise</a:t>
            </a:r>
            <a:r>
              <a:rPr lang="en-US" sz="1200" dirty="0">
                <a:solidFill>
                  <a:srgbClr val="F0E6D3">
                    <a:alpha val="80000"/>
                  </a:srgbClr>
                </a:solidFill>
              </a:rPr>
              <a:t> distinctive vocabulary as word clouds</a:t>
            </a:r>
          </a:p>
        </p:txBody>
      </p:sp>
      <p:sp>
        <p:nvSpPr>
          <p:cNvPr id="42" name="Card3"/>
          <p:cNvSpPr/>
          <p:nvPr/>
        </p:nvSpPr>
        <p:spPr>
          <a:xfrm>
            <a:off x="838200" y="4127500"/>
            <a:ext cx="4963115" cy="21336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12700">
            <a:solidFill>
              <a:srgbClr val="C8A96E">
                <a:alpha val="25000"/>
              </a:srgbClr>
            </a:solidFill>
          </a:ln>
        </p:spPr>
        <p:txBody>
          <a:bodyPr wrap="square" lIns="457200" tIns="91440" rIns="91440" bIns="45720" anchor="ctr"/>
          <a:lstStyle/>
          <a:p>
            <a:r>
              <a:rPr lang="en-US" sz="1500" b="1" dirty="0">
                <a:solidFill>
                  <a:srgbClr val="C8A96E"/>
                </a:solidFill>
              </a:rPr>
              <a:t>Real-World Comparison</a:t>
            </a:r>
          </a:p>
          <a:p>
            <a:r>
              <a:rPr lang="en-US" sz="1200" dirty="0">
                <a:solidFill>
                  <a:srgbClr val="F0E6D3">
                    <a:alpha val="80000"/>
                  </a:srgbClr>
                </a:solidFill>
              </a:rPr>
              <a:t>Compare fictional network statistics (degree dist., clustering) to known social network models. Does the connections follow a pareto distribution.</a:t>
            </a:r>
          </a:p>
        </p:txBody>
      </p:sp>
      <p:sp>
        <p:nvSpPr>
          <p:cNvPr id="43" name="Card4"/>
          <p:cNvSpPr/>
          <p:nvPr/>
        </p:nvSpPr>
        <p:spPr>
          <a:xfrm>
            <a:off x="6390684" y="4127500"/>
            <a:ext cx="4963115" cy="2133600"/>
          </a:xfrm>
          <a:prstGeom prst="roundRect">
            <a:avLst>
              <a:gd name="adj" fmla="val 6000"/>
            </a:avLst>
          </a:prstGeom>
          <a:solidFill>
            <a:srgbClr val="252545"/>
          </a:solidFill>
          <a:ln w="12700">
            <a:solidFill>
              <a:srgbClr val="C8A96E">
                <a:alpha val="25000"/>
              </a:srgbClr>
            </a:solidFill>
          </a:ln>
        </p:spPr>
        <p:txBody>
          <a:bodyPr wrap="square" lIns="457200" tIns="91440" rIns="91440" bIns="45720" anchor="ctr"/>
          <a:lstStyle/>
          <a:p>
            <a:r>
              <a:rPr lang="en-US" sz="1500" b="1" dirty="0">
                <a:solidFill>
                  <a:srgbClr val="C8A96E"/>
                </a:solidFill>
              </a:rPr>
              <a:t>LLM Relationship Extraction</a:t>
            </a:r>
          </a:p>
          <a:p>
            <a:r>
              <a:rPr lang="en-US" sz="1200" dirty="0">
                <a:solidFill>
                  <a:srgbClr val="F0E6D3">
                    <a:alpha val="80000"/>
                  </a:srgbClr>
                </a:solidFill>
              </a:rPr>
              <a:t>Prompt LLMs to classify character relationships as collaborative or combative from biographies</a:t>
            </a:r>
          </a:p>
          <a:p>
            <a:r>
              <a:rPr lang="en-US" sz="1200" dirty="0">
                <a:solidFill>
                  <a:srgbClr val="F0E6D3">
                    <a:alpha val="80000"/>
                  </a:srgbClr>
                </a:solidFill>
              </a:rPr>
              <a:t>Explore if houses make factions or are intertwined in conflicts</a:t>
            </a:r>
          </a:p>
          <a:p>
            <a:pPr algn="l">
              <a:buNone/>
            </a:pPr>
            <a:endParaRPr lang="en-US" sz="1200" dirty="0">
              <a:solidFill>
                <a:srgbClr val="F0E6D3">
                  <a:alpha val="80000"/>
                </a:srgbClr>
              </a:solidFill>
            </a:endParaRPr>
          </a:p>
        </p:txBody>
      </p:sp>
      <p:sp>
        <p:nvSpPr>
          <p:cNvPr id="50" name="Num1"/>
          <p:cNvSpPr/>
          <p:nvPr/>
        </p:nvSpPr>
        <p:spPr>
          <a:xfrm>
            <a:off x="931258" y="1930400"/>
            <a:ext cx="335010" cy="336282"/>
          </a:xfrm>
          <a:prstGeom prst="ellipse">
            <a:avLst/>
          </a:prstGeom>
          <a:solidFill>
            <a:srgbClr val="C8A96E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" name="Num1">
            <a:extLst>
              <a:ext uri="{FF2B5EF4-FFF2-40B4-BE49-F238E27FC236}">
                <a16:creationId xmlns:a16="http://schemas.microsoft.com/office/drawing/2014/main" id="{1D58290B-2B56-D069-B0BB-8181FC198B91}"/>
              </a:ext>
            </a:extLst>
          </p:cNvPr>
          <p:cNvSpPr/>
          <p:nvPr/>
        </p:nvSpPr>
        <p:spPr>
          <a:xfrm>
            <a:off x="6482052" y="1930400"/>
            <a:ext cx="335010" cy="336282"/>
          </a:xfrm>
          <a:prstGeom prst="ellipse">
            <a:avLst/>
          </a:prstGeom>
          <a:solidFill>
            <a:srgbClr val="C8A96E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5" name="Num1">
            <a:extLst>
              <a:ext uri="{FF2B5EF4-FFF2-40B4-BE49-F238E27FC236}">
                <a16:creationId xmlns:a16="http://schemas.microsoft.com/office/drawing/2014/main" id="{BBA26B70-B046-27BF-AE1E-A88172013190}"/>
              </a:ext>
            </a:extLst>
          </p:cNvPr>
          <p:cNvSpPr/>
          <p:nvPr/>
        </p:nvSpPr>
        <p:spPr>
          <a:xfrm>
            <a:off x="6482052" y="4216400"/>
            <a:ext cx="335010" cy="336282"/>
          </a:xfrm>
          <a:prstGeom prst="ellipse">
            <a:avLst/>
          </a:prstGeom>
          <a:solidFill>
            <a:srgbClr val="C8A96E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6" name="Num1">
            <a:extLst>
              <a:ext uri="{FF2B5EF4-FFF2-40B4-BE49-F238E27FC236}">
                <a16:creationId xmlns:a16="http://schemas.microsoft.com/office/drawing/2014/main" id="{8DF3A996-A402-D296-34C8-B300067FD0F1}"/>
              </a:ext>
            </a:extLst>
          </p:cNvPr>
          <p:cNvSpPr/>
          <p:nvPr/>
        </p:nvSpPr>
        <p:spPr>
          <a:xfrm>
            <a:off x="931258" y="4216400"/>
            <a:ext cx="335010" cy="336282"/>
          </a:xfrm>
          <a:prstGeom prst="ellipse">
            <a:avLst/>
          </a:prstGeom>
          <a:solidFill>
            <a:srgbClr val="C8A96E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28066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ED17B-5C52-6ACA-9015-984153976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63AD7-ADB6-5405-3CB7-54B8D12D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Text to </a:t>
            </a:r>
            <a:r>
              <a:rPr lang="en-GB" sz="3200" dirty="0" err="1"/>
              <a:t>analyze</a:t>
            </a:r>
            <a:endParaRPr lang="en-GB" sz="3200" dirty="0"/>
          </a:p>
        </p:txBody>
      </p:sp>
      <p:sp>
        <p:nvSpPr>
          <p:cNvPr id="10" name="Card Left">
            <a:extLst>
              <a:ext uri="{FF2B5EF4-FFF2-40B4-BE49-F238E27FC236}">
                <a16:creationId xmlns:a16="http://schemas.microsoft.com/office/drawing/2014/main" id="{5DA7E61D-4E2A-4492-B274-5D05D81B554C}"/>
              </a:ext>
            </a:extLst>
          </p:cNvPr>
          <p:cNvSpPr/>
          <p:nvPr/>
        </p:nvSpPr>
        <p:spPr>
          <a:xfrm>
            <a:off x="786686" y="1608428"/>
            <a:ext cx="3997816" cy="3302000"/>
          </a:xfrm>
          <a:prstGeom prst="roundRect">
            <a:avLst>
              <a:gd name="adj" fmla="val 8000"/>
            </a:avLst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600" b="1" dirty="0">
                <a:solidFill>
                  <a:srgbClr val="C8A96E"/>
                </a:solidFill>
              </a:rPr>
              <a:t>Extracting character histories:</a:t>
            </a:r>
          </a:p>
          <a:p>
            <a:pPr algn="l">
              <a:buNone/>
            </a:pPr>
            <a:endParaRPr lang="en-US" sz="1600" b="1" dirty="0">
              <a:solidFill>
                <a:srgbClr val="C8A96E"/>
              </a:solidFill>
            </a:endParaRPr>
          </a:p>
          <a:p>
            <a:pPr algn="l">
              <a:buNone/>
            </a:pPr>
            <a:r>
              <a:rPr lang="en-US" sz="1600" b="1" dirty="0">
                <a:solidFill>
                  <a:srgbClr val="C8A96E"/>
                </a:solidFill>
              </a:rPr>
              <a:t>Exchanging names for ID’s for uniqueness.</a:t>
            </a:r>
          </a:p>
          <a:p>
            <a:pPr algn="l">
              <a:buNone/>
            </a:pPr>
            <a:endParaRPr lang="en-US" sz="1600" b="1" dirty="0">
              <a:solidFill>
                <a:srgbClr val="C8A96E"/>
              </a:solidFill>
            </a:endParaRPr>
          </a:p>
          <a:p>
            <a:pPr algn="l">
              <a:buNone/>
            </a:pPr>
            <a:r>
              <a:rPr lang="en-US" sz="1600" b="1" dirty="0">
                <a:solidFill>
                  <a:srgbClr val="C8A96E"/>
                </a:solidFill>
              </a:rPr>
              <a:t>Exploring relationships through LLM analysis hopefully.</a:t>
            </a:r>
          </a:p>
          <a:p>
            <a:pPr algn="l">
              <a:buNone/>
            </a:pPr>
            <a:endParaRPr lang="en-US" sz="1600" b="1" dirty="0">
              <a:solidFill>
                <a:srgbClr val="C8A96E"/>
              </a:solidFill>
            </a:endParaRPr>
          </a:p>
          <a:p>
            <a:pPr algn="l">
              <a:buNone/>
            </a:pPr>
            <a:r>
              <a:rPr lang="en-US" sz="1600" b="1" dirty="0">
                <a:solidFill>
                  <a:srgbClr val="C8A96E"/>
                </a:solidFill>
              </a:rPr>
              <a:t>Using a local LLM for reproducibility</a:t>
            </a:r>
          </a:p>
          <a:p>
            <a:pPr algn="l">
              <a:buNone/>
            </a:pPr>
            <a:endParaRPr lang="en-US" sz="1600" b="1" dirty="0">
              <a:solidFill>
                <a:srgbClr val="C8A96E"/>
              </a:solidFill>
            </a:endParaRPr>
          </a:p>
          <a:p>
            <a:pPr algn="l">
              <a:buNone/>
            </a:pPr>
            <a:endParaRPr lang="en-US" sz="1600" b="1" dirty="0">
              <a:solidFill>
                <a:srgbClr val="C8A96E"/>
              </a:solidFill>
            </a:endParaRPr>
          </a:p>
          <a:p>
            <a:pPr algn="l">
              <a:buNone/>
            </a:pPr>
            <a:endParaRPr lang="en-US" sz="1600" b="1" dirty="0">
              <a:solidFill>
                <a:srgbClr val="C8A96E"/>
              </a:solidFill>
            </a:endParaRPr>
          </a:p>
          <a:p>
            <a:pPr algn="l">
              <a:buNone/>
            </a:pPr>
            <a:endParaRPr lang="en-US" sz="1600" b="1" dirty="0">
              <a:solidFill>
                <a:srgbClr val="C8A96E"/>
              </a:solidFill>
            </a:endParaRP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12D5B901-6C01-87B7-CE0B-3A527F16A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854" y="1029649"/>
            <a:ext cx="6844934" cy="38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2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31A203-28F3-8FB0-53CC-F6D8B0D8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C8A96E"/>
                </a:solidFill>
              </a:rPr>
              <a:t>Preliminary Data Analysis</a:t>
            </a:r>
          </a:p>
        </p:txBody>
      </p:sp>
      <p:sp>
        <p:nvSpPr>
          <p:cNvPr id="60" name="Metric"/>
          <p:cNvSpPr/>
          <p:nvPr/>
        </p:nvSpPr>
        <p:spPr>
          <a:xfrm>
            <a:off x="838200" y="1905000"/>
            <a:ext cx="3004457" cy="1143000"/>
          </a:xfrm>
          <a:prstGeom prst="roundRect">
            <a:avLst/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400" b="1" dirty="0">
                <a:solidFill>
                  <a:srgbClr val="C8A96E"/>
                </a:solidFill>
              </a:rPr>
              <a:t>1.1 Mb</a:t>
            </a:r>
          </a:p>
          <a:p>
            <a:pPr algn="ctr">
              <a:buNone/>
            </a:pPr>
            <a:r>
              <a:rPr lang="en-US" sz="1200" dirty="0">
                <a:solidFill>
                  <a:srgbClr val="F0E6D3">
                    <a:alpha val="70000"/>
                  </a:srgbClr>
                </a:solidFill>
              </a:rPr>
              <a:t>MB dataset size</a:t>
            </a:r>
          </a:p>
        </p:txBody>
      </p:sp>
      <p:sp>
        <p:nvSpPr>
          <p:cNvPr id="61" name="Metric"/>
          <p:cNvSpPr/>
          <p:nvPr/>
        </p:nvSpPr>
        <p:spPr>
          <a:xfrm>
            <a:off x="4443548" y="1905000"/>
            <a:ext cx="3004457" cy="1143000"/>
          </a:xfrm>
          <a:prstGeom prst="roundRect">
            <a:avLst/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400" b="1" dirty="0">
                <a:solidFill>
                  <a:srgbClr val="C8A96E"/>
                </a:solidFill>
              </a:rPr>
              <a:t>3,689</a:t>
            </a:r>
          </a:p>
          <a:p>
            <a:pPr algn="ctr">
              <a:buNone/>
            </a:pPr>
            <a:r>
              <a:rPr lang="en-US" sz="1200" dirty="0">
                <a:solidFill>
                  <a:srgbClr val="F0E6D3">
                    <a:alpha val="70000"/>
                  </a:srgbClr>
                </a:solidFill>
              </a:rPr>
              <a:t>rows (characters)</a:t>
            </a:r>
          </a:p>
        </p:txBody>
      </p:sp>
      <p:sp>
        <p:nvSpPr>
          <p:cNvPr id="62" name="Metric"/>
          <p:cNvSpPr/>
          <p:nvPr/>
        </p:nvSpPr>
        <p:spPr>
          <a:xfrm>
            <a:off x="8048897" y="1905000"/>
            <a:ext cx="3004457" cy="1143000"/>
          </a:xfrm>
          <a:prstGeom prst="roundRect">
            <a:avLst/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2400" b="1" dirty="0">
                <a:solidFill>
                  <a:srgbClr val="C8A96E"/>
                </a:solidFill>
              </a:rPr>
              <a:t>9</a:t>
            </a:r>
          </a:p>
          <a:p>
            <a:pPr algn="ctr">
              <a:buNone/>
            </a:pPr>
            <a:r>
              <a:rPr lang="en-US" sz="1200" dirty="0">
                <a:solidFill>
                  <a:srgbClr val="F0E6D3">
                    <a:alpha val="70000"/>
                  </a:srgbClr>
                </a:solidFill>
              </a:rPr>
              <a:t>variables/columns</a:t>
            </a:r>
          </a:p>
        </p:txBody>
      </p:sp>
      <p:sp>
        <p:nvSpPr>
          <p:cNvPr id="65" name="NodeAttrs"/>
          <p:cNvSpPr/>
          <p:nvPr/>
        </p:nvSpPr>
        <p:spPr>
          <a:xfrm>
            <a:off x="844639" y="3276600"/>
            <a:ext cx="5107577" cy="2971800"/>
          </a:xfrm>
          <a:prstGeom prst="roundRect">
            <a:avLst/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500" b="1" dirty="0">
                <a:solidFill>
                  <a:srgbClr val="C8A96E"/>
                </a:solidFill>
              </a:rPr>
              <a:t>Node Attributes</a:t>
            </a:r>
          </a:p>
          <a:p>
            <a:pPr>
              <a:buNone/>
            </a:pPr>
            <a:endParaRPr lang="en-US" sz="400" dirty="0"/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Main: Name, ID, Affiliated, Allegiance, Bio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Additional: Father, Mother, Spouse, Lover, Issue</a:t>
            </a:r>
          </a:p>
          <a:p>
            <a:pPr marL="685800" lvl="1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Additional are very incomplete, we might not use it for the final project </a:t>
            </a:r>
          </a:p>
          <a:p>
            <a:pPr marL="228600" indent="-228600">
              <a:buFont typeface="Arial"/>
              <a:buChar char="▸"/>
            </a:pPr>
            <a:endParaRPr lang="en-US" sz="1400" dirty="0">
              <a:solidFill>
                <a:srgbClr val="F0E6D3"/>
              </a:solidFill>
            </a:endParaRPr>
          </a:p>
        </p:txBody>
      </p:sp>
      <p:sp>
        <p:nvSpPr>
          <p:cNvPr id="66" name="NetStats"/>
          <p:cNvSpPr/>
          <p:nvPr/>
        </p:nvSpPr>
        <p:spPr>
          <a:xfrm>
            <a:off x="6246222" y="3276600"/>
            <a:ext cx="5107577" cy="1520780"/>
          </a:xfrm>
          <a:prstGeom prst="roundRect">
            <a:avLst/>
          </a:prstGeom>
          <a:solidFill>
            <a:srgbClr val="252545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500" b="1" dirty="0">
                <a:solidFill>
                  <a:srgbClr val="C8A96E"/>
                </a:solidFill>
              </a:rPr>
              <a:t>Network Stats (Preliminary)</a:t>
            </a:r>
          </a:p>
          <a:p>
            <a:pPr>
              <a:buNone/>
            </a:pPr>
            <a:endParaRPr lang="en-US" sz="400" dirty="0"/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Nodes: 3689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Edges: 36315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Avg. degree: 19.7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Median: 8</a:t>
            </a:r>
          </a:p>
          <a:p>
            <a:endParaRPr lang="en-US" sz="1400" dirty="0">
              <a:solidFill>
                <a:srgbClr val="F0E6D3"/>
              </a:solidFill>
            </a:endParaRP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70360A14-6461-36CA-B49E-4BC2B8D90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344" y="4855335"/>
            <a:ext cx="4070374" cy="133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96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C94CB0-4925-2FCB-B5DA-7A90C467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graphs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E0060F8D-C903-4755-28B7-828734222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750" y="1381159"/>
            <a:ext cx="4462530" cy="4462530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B06896AD-F7FB-AFE2-5B81-AED2A98F4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717" y="1633371"/>
            <a:ext cx="4210318" cy="421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77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5B332A-F682-75C4-7AA0-719F45BC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C8A96E"/>
                </a:solidFill>
              </a:rPr>
              <a:t>Pipeline &amp; Next Steps</a:t>
            </a:r>
          </a:p>
        </p:txBody>
      </p:sp>
      <p:sp>
        <p:nvSpPr>
          <p:cNvPr id="70" name="Step1"/>
          <p:cNvSpPr/>
          <p:nvPr/>
        </p:nvSpPr>
        <p:spPr>
          <a:xfrm>
            <a:off x="838200" y="1905000"/>
            <a:ext cx="1694180" cy="838200"/>
          </a:xfrm>
          <a:prstGeom prst="homePlate">
            <a:avLst/>
          </a:prstGeom>
          <a:solidFill>
            <a:srgbClr val="8B2E2E"/>
          </a:solidFill>
          <a:ln w="12700">
            <a:solidFill>
              <a:srgbClr val="C8A96E">
                <a:alpha val="50000"/>
              </a:srgbClr>
            </a:solidFill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0E6D3"/>
                </a:solidFill>
              </a:rPr>
              <a:t>Scraping</a:t>
            </a:r>
          </a:p>
        </p:txBody>
      </p:sp>
      <p:sp>
        <p:nvSpPr>
          <p:cNvPr id="71" name="Step2"/>
          <p:cNvSpPr/>
          <p:nvPr/>
        </p:nvSpPr>
        <p:spPr>
          <a:xfrm>
            <a:off x="2895776" y="1905000"/>
            <a:ext cx="1604516" cy="838200"/>
          </a:xfrm>
          <a:prstGeom prst="homePlate">
            <a:avLst/>
          </a:prstGeom>
          <a:solidFill>
            <a:srgbClr val="252545"/>
          </a:solidFill>
          <a:ln w="12700">
            <a:solidFill>
              <a:srgbClr val="C8A96E">
                <a:alpha val="25000"/>
              </a:srgbClr>
            </a:solidFill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0E6D3"/>
                </a:solidFill>
              </a:rPr>
              <a:t>Network</a:t>
            </a:r>
          </a:p>
        </p:txBody>
      </p:sp>
      <p:sp>
        <p:nvSpPr>
          <p:cNvPr id="72" name="Step3"/>
          <p:cNvSpPr/>
          <p:nvPr/>
        </p:nvSpPr>
        <p:spPr>
          <a:xfrm>
            <a:off x="6870841" y="1905000"/>
            <a:ext cx="1678798" cy="838200"/>
          </a:xfrm>
          <a:prstGeom prst="homePlate">
            <a:avLst/>
          </a:prstGeom>
          <a:solidFill>
            <a:srgbClr val="252545"/>
          </a:solidFill>
          <a:ln w="12700">
            <a:solidFill>
              <a:srgbClr val="C8A96E">
                <a:alpha val="25000"/>
              </a:srgbClr>
            </a:solidFill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0E6D3"/>
                </a:solidFill>
              </a:rPr>
              <a:t>LLM
Extraction</a:t>
            </a:r>
          </a:p>
        </p:txBody>
      </p:sp>
      <p:sp>
        <p:nvSpPr>
          <p:cNvPr id="73" name="Step4"/>
          <p:cNvSpPr/>
          <p:nvPr/>
        </p:nvSpPr>
        <p:spPr>
          <a:xfrm>
            <a:off x="4829128" y="1905000"/>
            <a:ext cx="1675812" cy="838200"/>
          </a:xfrm>
          <a:prstGeom prst="homePlate">
            <a:avLst/>
          </a:prstGeom>
          <a:solidFill>
            <a:srgbClr val="252545"/>
          </a:solidFill>
          <a:ln w="12700">
            <a:solidFill>
              <a:srgbClr val="C8A96E">
                <a:alpha val="25000"/>
              </a:srgbClr>
            </a:solidFill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0E6D3"/>
                </a:solidFill>
              </a:rPr>
              <a:t>TF-IDF</a:t>
            </a:r>
          </a:p>
        </p:txBody>
      </p:sp>
      <p:sp>
        <p:nvSpPr>
          <p:cNvPr id="74" name="Step5"/>
          <p:cNvSpPr/>
          <p:nvPr/>
        </p:nvSpPr>
        <p:spPr>
          <a:xfrm>
            <a:off x="8915540" y="1905000"/>
            <a:ext cx="1752600" cy="838200"/>
          </a:xfrm>
          <a:prstGeom prst="homePlate">
            <a:avLst/>
          </a:prstGeom>
          <a:solidFill>
            <a:srgbClr val="3D5A80"/>
          </a:solidFill>
          <a:ln w="12700">
            <a:solidFill>
              <a:srgbClr val="C8A96E">
                <a:alpha val="50000"/>
              </a:srgbClr>
            </a:solidFill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0E6D3"/>
                </a:solidFill>
              </a:rPr>
              <a:t>Compare
w/ Real Networks</a:t>
            </a:r>
          </a:p>
          <a:p>
            <a:pPr algn="ctr">
              <a:buNone/>
            </a:pPr>
            <a:r>
              <a:rPr lang="en-US" sz="800" b="1" dirty="0">
                <a:solidFill>
                  <a:srgbClr val="F0E6D3"/>
                </a:solidFill>
              </a:rPr>
              <a:t>Explore Conflicts</a:t>
            </a:r>
          </a:p>
          <a:p>
            <a:pPr algn="ctr">
              <a:buNone/>
            </a:pPr>
            <a:r>
              <a:rPr lang="en-US" sz="800" b="1" dirty="0">
                <a:solidFill>
                  <a:srgbClr val="F0E6D3"/>
                </a:solidFill>
              </a:rPr>
              <a:t>Predict allegiances</a:t>
            </a:r>
          </a:p>
        </p:txBody>
      </p:sp>
      <p:sp>
        <p:nvSpPr>
          <p:cNvPr id="80" name="Arrow0"/>
          <p:cNvSpPr/>
          <p:nvPr/>
        </p:nvSpPr>
        <p:spPr>
          <a:xfrm>
            <a:off x="2545258" y="2260956"/>
            <a:ext cx="292100" cy="137160"/>
          </a:xfrm>
          <a:prstGeom prst="rightArrow">
            <a:avLst/>
          </a:prstGeom>
          <a:solidFill>
            <a:srgbClr val="C8A96E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n-US">
              <a:solidFill>
                <a:srgbClr val="1A1A2E"/>
              </a:solidFill>
            </a:endParaRPr>
          </a:p>
        </p:txBody>
      </p:sp>
      <p:sp>
        <p:nvSpPr>
          <p:cNvPr id="81" name="Arrow1"/>
          <p:cNvSpPr/>
          <p:nvPr/>
        </p:nvSpPr>
        <p:spPr>
          <a:xfrm>
            <a:off x="4518660" y="2254517"/>
            <a:ext cx="292100" cy="137160"/>
          </a:xfrm>
          <a:prstGeom prst="rightArrow">
            <a:avLst/>
          </a:prstGeom>
          <a:solidFill>
            <a:srgbClr val="C8A96E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n-US">
              <a:solidFill>
                <a:srgbClr val="1A1A2E"/>
              </a:solidFill>
            </a:endParaRPr>
          </a:p>
        </p:txBody>
      </p:sp>
      <p:sp>
        <p:nvSpPr>
          <p:cNvPr id="82" name="Arrow2"/>
          <p:cNvSpPr/>
          <p:nvPr/>
        </p:nvSpPr>
        <p:spPr>
          <a:xfrm>
            <a:off x="6520323" y="2240509"/>
            <a:ext cx="292100" cy="137160"/>
          </a:xfrm>
          <a:prstGeom prst="rightArrow">
            <a:avLst/>
          </a:prstGeom>
          <a:solidFill>
            <a:srgbClr val="C8A96E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n-US">
              <a:solidFill>
                <a:srgbClr val="1A1A2E"/>
              </a:solidFill>
            </a:endParaRPr>
          </a:p>
        </p:txBody>
      </p:sp>
      <p:sp>
        <p:nvSpPr>
          <p:cNvPr id="83" name="Arrow3"/>
          <p:cNvSpPr/>
          <p:nvPr/>
        </p:nvSpPr>
        <p:spPr>
          <a:xfrm>
            <a:off x="8574928" y="2248078"/>
            <a:ext cx="292100" cy="137160"/>
          </a:xfrm>
          <a:prstGeom prst="rightArrow">
            <a:avLst/>
          </a:prstGeom>
          <a:solidFill>
            <a:srgbClr val="C8A96E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en-US">
              <a:solidFill>
                <a:srgbClr val="1A1A2E"/>
              </a:solidFill>
            </a:endParaRPr>
          </a:p>
        </p:txBody>
      </p:sp>
      <p:sp>
        <p:nvSpPr>
          <p:cNvPr id="90" name="NextSteps"/>
          <p:cNvSpPr/>
          <p:nvPr/>
        </p:nvSpPr>
        <p:spPr>
          <a:xfrm>
            <a:off x="838199" y="3063875"/>
            <a:ext cx="10515599" cy="2982756"/>
          </a:xfrm>
          <a:prstGeom prst="roundRect">
            <a:avLst>
              <a:gd name="adj" fmla="val 4000"/>
            </a:avLst>
          </a:prstGeom>
          <a:solidFill>
            <a:srgbClr val="252545"/>
          </a:solidFill>
          <a:ln w="0">
            <a:noFill/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600" b="1" dirty="0">
                <a:solidFill>
                  <a:srgbClr val="C8A96E"/>
                </a:solidFill>
              </a:rPr>
              <a:t>Next Steps</a:t>
            </a:r>
          </a:p>
          <a:p>
            <a:pPr>
              <a:buNone/>
            </a:pPr>
            <a:endParaRPr lang="en-US" sz="400" dirty="0"/>
          </a:p>
          <a:p>
            <a:pPr marL="228600" indent="-228600">
              <a:buFont typeface="Arial"/>
              <a:buChar char="▸"/>
            </a:pPr>
            <a:r>
              <a:rPr lang="en-US" sz="1400" dirty="0" err="1">
                <a:solidFill>
                  <a:srgbClr val="F0E6D3"/>
                </a:solidFill>
              </a:rPr>
              <a:t>Finalise</a:t>
            </a:r>
            <a:r>
              <a:rPr lang="en-US" sz="1400" dirty="0">
                <a:solidFill>
                  <a:srgbClr val="F0E6D3"/>
                </a:solidFill>
              </a:rPr>
              <a:t> network construction from allegiance data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Run LLM-based relationship extraction on corpus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Generate TF-IDF word clouds per allegiance group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Compare with real-world social networks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F0E6D3"/>
                </a:solidFill>
              </a:rPr>
              <a:t>Prepare final visualisations and project website</a:t>
            </a:r>
          </a:p>
        </p:txBody>
      </p:sp>
    </p:spTree>
    <p:extLst>
      <p:ext uri="{BB962C8B-B14F-4D97-AF65-F5344CB8AC3E}">
        <p14:creationId xmlns:p14="http://schemas.microsoft.com/office/powerpoint/2010/main" val="3092000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 [1776845467751]">
  <a:themeElements>
    <a:clrScheme name="Office">
      <a:dk1>
        <a:srgbClr val="F0E6D3"/>
      </a:dk1>
      <a:lt1>
        <a:srgbClr val="1A1A2E"/>
      </a:lt1>
      <a:dk2>
        <a:srgbClr val="C8A96E"/>
      </a:dk2>
      <a:lt2>
        <a:srgbClr val="252545"/>
      </a:lt2>
      <a:accent1>
        <a:srgbClr val="C8A96E"/>
      </a:accent1>
      <a:accent2>
        <a:srgbClr val="8B2E2E"/>
      </a:accent2>
      <a:accent3>
        <a:srgbClr val="3D5A80"/>
      </a:accent3>
      <a:accent4>
        <a:srgbClr val="F0E6D3"/>
      </a:accent4>
      <a:accent5>
        <a:srgbClr val="5C3D2E"/>
      </a:accent5>
      <a:accent6>
        <a:srgbClr val="6B8F71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aramond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rgbClr val="F0E6D3"/>
    </a:dk1>
    <a:lt1>
      <a:srgbClr val="1A1A2E"/>
    </a:lt1>
    <a:dk2>
      <a:srgbClr val="C8A96E"/>
    </a:dk2>
    <a:lt2>
      <a:srgbClr val="252545"/>
    </a:lt2>
    <a:accent1>
      <a:srgbClr val="C8A96E"/>
    </a:accent1>
    <a:accent2>
      <a:srgbClr val="8B2E2E"/>
    </a:accent2>
    <a:accent3>
      <a:srgbClr val="3D5A80"/>
    </a:accent3>
    <a:accent4>
      <a:srgbClr val="F0E6D3"/>
    </a:accent4>
    <a:accent5>
      <a:srgbClr val="5C3D2E"/>
    </a:accent5>
    <a:accent6>
      <a:srgbClr val="6B8F71"/>
    </a:accent6>
    <a:hlink>
      <a:srgbClr val="467886"/>
    </a:hlink>
    <a:folHlink>
      <a:srgbClr val="96607D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2A61ED-8413-B245-9163-2EB9C32A299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b021813-2cd1-45b3-8ccb-8f3c393e634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473</Words>
  <Application>Microsoft Macintosh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3" baseType="lpstr">
      <vt:lpstr>Arial</vt:lpstr>
      <vt:lpstr>Garamond</vt:lpstr>
      <vt:lpstr>Georgia</vt:lpstr>
      <vt:lpstr>Office-tema [1776845467751]</vt:lpstr>
      <vt:lpstr>Social Networks in Game Of Thrones Investigating how networks predict allegiances and storylines in fiction</vt:lpstr>
      <vt:lpstr>Central Idea</vt:lpstr>
      <vt:lpstr>Dataset &amp; Collection</vt:lpstr>
      <vt:lpstr>Text to analyze</vt:lpstr>
      <vt:lpstr>Goals</vt:lpstr>
      <vt:lpstr>Text to analyze</vt:lpstr>
      <vt:lpstr>Preliminary Data Analysis</vt:lpstr>
      <vt:lpstr>First graphs</vt:lpstr>
      <vt:lpstr>Pipeline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Uffe</dc:creator>
  <cp:lastModifiedBy>Uffe</cp:lastModifiedBy>
  <cp:revision>5</cp:revision>
  <dcterms:created xsi:type="dcterms:W3CDTF">2026-04-15T09:10:58Z</dcterms:created>
  <dcterms:modified xsi:type="dcterms:W3CDTF">2026-04-22T10:02:40Z</dcterms:modified>
</cp:coreProperties>
</file>